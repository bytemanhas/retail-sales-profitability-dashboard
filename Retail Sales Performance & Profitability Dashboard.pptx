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69" r:id="rId7"/>
    <p:sldId id="270" r:id="rId8"/>
    <p:sldId id="271" r:id="rId9"/>
    <p:sldId id="277" r:id="rId10"/>
    <p:sldId id="272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03" autoAdjust="0"/>
    <p:restoredTop sz="87949" autoAdjust="0"/>
  </p:normalViewPr>
  <p:slideViewPr>
    <p:cSldViewPr snapToGrid="0" showGuides="1">
      <p:cViewPr varScale="1">
        <p:scale>
          <a:sx n="87" d="100"/>
          <a:sy n="87" d="100"/>
        </p:scale>
        <p:origin x="55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3/11/2026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69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8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78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04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58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56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5037655" y="4336093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 dirty="0"/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 dirty="0"/>
              </a:p>
            </p:txBody>
          </p:sp>
        </p:grp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1F27F-98F9-A147-8986-34441C7B752D}" type="datetime1">
              <a:rPr lang="en-US" noProof="0" smtClean="0"/>
              <a:t>3/11/2026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19.pn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8431" y="1946909"/>
            <a:ext cx="5359644" cy="2053591"/>
          </a:xfrm>
        </p:spPr>
        <p:txBody>
          <a:bodyPr/>
          <a:lstStyle/>
          <a:p>
            <a:r>
              <a:rPr lang="en-US" sz="3200" dirty="0"/>
              <a:t>Retail Sales Performance &amp; Profitability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</a:t>
            </a:r>
            <a:br>
              <a:rPr lang="en-US" dirty="0"/>
            </a:br>
            <a:r>
              <a:rPr lang="en-US" dirty="0" smtClean="0"/>
              <a:t>YASHWANT </a:t>
            </a:r>
            <a:r>
              <a:rPr lang="en-US" dirty="0" err="1" smtClean="0"/>
              <a:t>Manhas</a:t>
            </a:r>
            <a:endParaRPr lang="en-US" dirty="0"/>
          </a:p>
        </p:txBody>
      </p:sp>
      <p:pic>
        <p:nvPicPr>
          <p:cNvPr id="10" name="Picture Placeholder 9" descr="cityscape&#10;">
            <a:extLst>
              <a:ext uri="{FF2B5EF4-FFF2-40B4-BE49-F238E27FC236}">
                <a16:creationId xmlns:a16="http://schemas.microsoft.com/office/drawing/2014/main" id="{CF143FEA-6E93-4548-8A9B-318F437CD8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4" name="Picture 3" descr="How Is &lt;strong&gt;Data&lt;/strong&gt;-Intensive Research Changing Science? - Enago Academ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728" y="1278056"/>
            <a:ext cx="2347546" cy="7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C2A7-EC84-4D8C-9CA2-F6AE46F5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60426-AAA6-4126-93AF-30F7DEE01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9388" y="1137248"/>
            <a:ext cx="7900525" cy="764460"/>
          </a:xfrm>
        </p:spPr>
        <p:txBody>
          <a:bodyPr/>
          <a:lstStyle/>
          <a:p>
            <a:r>
              <a:rPr lang="en-US" b="1" dirty="0"/>
              <a:t>Project Objective</a:t>
            </a:r>
            <a:endParaRPr lang="en-US" dirty="0"/>
          </a:p>
          <a:p>
            <a:r>
              <a:rPr lang="en-US" dirty="0"/>
              <a:t>The objective of this project was to:</a:t>
            </a:r>
          </a:p>
          <a:p>
            <a:r>
              <a:rPr lang="en-US" dirty="0"/>
              <a:t>• Analyze overall sales performance</a:t>
            </a:r>
            <a:br>
              <a:rPr lang="en-US" dirty="0"/>
            </a:br>
            <a:r>
              <a:rPr lang="en-US" dirty="0"/>
              <a:t>• Identify profitable and loss-making products</a:t>
            </a:r>
            <a:br>
              <a:rPr lang="en-US" dirty="0"/>
            </a:br>
            <a:r>
              <a:rPr lang="en-US" dirty="0"/>
              <a:t>• Analyze regional performance</a:t>
            </a:r>
            <a:br>
              <a:rPr lang="en-US" dirty="0"/>
            </a:br>
            <a:r>
              <a:rPr lang="en-US" dirty="0"/>
              <a:t>• Identify trends over time</a:t>
            </a:r>
          </a:p>
        </p:txBody>
      </p:sp>
      <p:pic>
        <p:nvPicPr>
          <p:cNvPr id="11" name="Picture Placeholder 10" descr="city skyline">
            <a:extLst>
              <a:ext uri="{FF2B5EF4-FFF2-40B4-BE49-F238E27FC236}">
                <a16:creationId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93041" y="3657599"/>
            <a:ext cx="6206400" cy="320040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E959E-B23F-467A-9B6E-30F9EE96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pic>
        <p:nvPicPr>
          <p:cNvPr id="5" name="Picture 4" descr="Idea Symbol Innovation · Free image on Pixaba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61" y="6104046"/>
            <a:ext cx="1702777" cy="70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3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9C73-06ED-419B-81B5-491CBFC2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1" y="1825625"/>
            <a:ext cx="3991476" cy="4351338"/>
          </a:xfrm>
        </p:spPr>
        <p:txBody>
          <a:bodyPr/>
          <a:lstStyle/>
          <a:p>
            <a:r>
              <a:rPr lang="en-US" sz="1800" b="1" dirty="0"/>
              <a:t>Tools and Technologies Used</a:t>
            </a:r>
            <a:endParaRPr lang="en-US" sz="1800" dirty="0"/>
          </a:p>
          <a:p>
            <a:r>
              <a:rPr lang="en-US" sz="1800" dirty="0"/>
              <a:t>• Power BI</a:t>
            </a:r>
            <a:br>
              <a:rPr lang="en-US" sz="1800" dirty="0"/>
            </a:br>
            <a:r>
              <a:rPr lang="en-US" sz="1800" dirty="0"/>
              <a:t>• Superstore Sales Dataset</a:t>
            </a:r>
          </a:p>
          <a:p>
            <a:r>
              <a:rPr lang="en-US" sz="1800" b="1" dirty="0"/>
              <a:t>Skills Applied:</a:t>
            </a:r>
            <a:endParaRPr lang="en-US" sz="1800" dirty="0"/>
          </a:p>
          <a:p>
            <a:r>
              <a:rPr lang="en-US" sz="1800" dirty="0"/>
              <a:t>• Data Visualization</a:t>
            </a:r>
            <a:br>
              <a:rPr lang="en-US" sz="1800" dirty="0"/>
            </a:br>
            <a:r>
              <a:rPr lang="en-US" sz="1800" dirty="0"/>
              <a:t>• Data Analysis</a:t>
            </a:r>
            <a:br>
              <a:rPr lang="en-US" sz="1800" dirty="0"/>
            </a:br>
            <a:r>
              <a:rPr lang="en-US" sz="1800" dirty="0"/>
              <a:t>• Dashboard Design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7" name="Picture Placeholder 6" descr="skycrapers">
            <a:extLst>
              <a:ext uri="{FF2B5EF4-FFF2-40B4-BE49-F238E27FC236}">
                <a16:creationId xmlns:a16="http://schemas.microsoft.com/office/drawing/2014/main" id="{A241642C-CB49-4AA1-9EAD-3BCEA280B5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C6BAC-F3F8-4AA0-B332-02F66357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67054" y="6040315"/>
            <a:ext cx="1960684" cy="817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56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9A18-93E0-4615-B7AA-B8C8FBB1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57199"/>
            <a:ext cx="2603241" cy="242598"/>
          </a:xfrm>
        </p:spPr>
        <p:txBody>
          <a:bodyPr/>
          <a:lstStyle/>
          <a:p>
            <a:r>
              <a:rPr lang="en-US" sz="2400" dirty="0" smtClean="0"/>
              <a:t>DASHBOARD OVERVIEW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DBFEE-BC50-46CF-AB8F-D145B99B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44062"/>
            <a:ext cx="12191999" cy="601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30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Placeholder 82" descr="Bar chart">
            <a:extLst>
              <a:ext uri="{FF2B5EF4-FFF2-40B4-BE49-F238E27FC236}">
                <a16:creationId xmlns:a16="http://schemas.microsoft.com/office/drawing/2014/main" id="{C881BE4E-5D69-E447-A036-5172F657074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37A9B0-8DFC-4474-9F0A-612E661EF4E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8D1D-2547-44FC-BACD-2BCD769E2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• </a:t>
            </a:r>
            <a:r>
              <a:rPr lang="en-US" sz="1400" dirty="0"/>
              <a:t>Technology category has highest sales</a:t>
            </a:r>
          </a:p>
          <a:p>
            <a:r>
              <a:rPr lang="en-US" sz="1400" dirty="0"/>
              <a:t>• West region has highest sales performance</a:t>
            </a:r>
          </a:p>
          <a:p>
            <a:r>
              <a:rPr lang="en-US" sz="1400" dirty="0"/>
              <a:t>• Sales show fluctuation over months</a:t>
            </a:r>
          </a:p>
          <a:p>
            <a:r>
              <a:rPr lang="en-US" sz="1400" dirty="0"/>
              <a:t>• Some sub-categories generate lower profit</a:t>
            </a:r>
          </a:p>
        </p:txBody>
      </p:sp>
      <p:pic>
        <p:nvPicPr>
          <p:cNvPr id="22" name="Picture Placeholder 21" descr="downtown area at dusk">
            <a:extLst>
              <a:ext uri="{FF2B5EF4-FFF2-40B4-BE49-F238E27FC236}">
                <a16:creationId xmlns:a16="http://schemas.microsoft.com/office/drawing/2014/main" id="{900B31E0-725B-4414-BD86-F34DA10467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85" name="Picture Placeholder 84" descr="Single gear">
            <a:extLst>
              <a:ext uri="{FF2B5EF4-FFF2-40B4-BE49-F238E27FC236}">
                <a16:creationId xmlns:a16="http://schemas.microsoft.com/office/drawing/2014/main" id="{65FBD7DF-30E8-9042-8A0D-0F64C33E0B41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8F2DCC-A50E-40A1-81F9-70371D4AA42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IN" dirty="0"/>
              <a:t>Business Value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639B0-7991-4B2B-9E50-32064EB9125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This dashboard helps business to:</a:t>
            </a:r>
          </a:p>
          <a:p>
            <a:r>
              <a:rPr lang="en-US" sz="1400" dirty="0"/>
              <a:t>• Improve profit</a:t>
            </a:r>
          </a:p>
          <a:p>
            <a:r>
              <a:rPr lang="en-US" sz="1400" dirty="0"/>
              <a:t>• Identify best products</a:t>
            </a:r>
          </a:p>
          <a:p>
            <a:r>
              <a:rPr lang="en-US" sz="1400" dirty="0"/>
              <a:t>• Improve weak areas</a:t>
            </a:r>
          </a:p>
          <a:p>
            <a:r>
              <a:rPr lang="en-US" sz="1400" dirty="0"/>
              <a:t>• Make data-driven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E3677-5FC4-4712-BA70-5DBE5745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003235"/>
            <a:ext cx="2546690" cy="85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6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Placeholder 82" descr="Bar chart">
            <a:extLst>
              <a:ext uri="{FF2B5EF4-FFF2-40B4-BE49-F238E27FC236}">
                <a16:creationId xmlns:a16="http://schemas.microsoft.com/office/drawing/2014/main" id="{C881BE4E-5D69-E447-A036-5172F657074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37A9B0-8DFC-4474-9F0A-612E661EF4E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 smtClean="0"/>
              <a:t>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8D1D-2547-44FC-BACD-2BCD769E2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• Identified best-performing category: Technology</a:t>
            </a:r>
          </a:p>
          <a:p>
            <a:r>
              <a:rPr lang="en-US" sz="1400" dirty="0"/>
              <a:t>• Identified best-performing region: West</a:t>
            </a:r>
          </a:p>
          <a:p>
            <a:r>
              <a:rPr lang="en-US" sz="1400" dirty="0"/>
              <a:t>• Found monthly sales trends and seasonal patterns</a:t>
            </a:r>
          </a:p>
          <a:p>
            <a:r>
              <a:rPr lang="en-US" sz="1400" dirty="0"/>
              <a:t>• Identified sub-categories with low profit</a:t>
            </a:r>
          </a:p>
        </p:txBody>
      </p:sp>
      <p:pic>
        <p:nvPicPr>
          <p:cNvPr id="22" name="Picture Placeholder 21" descr="downtown area at dusk">
            <a:extLst>
              <a:ext uri="{FF2B5EF4-FFF2-40B4-BE49-F238E27FC236}">
                <a16:creationId xmlns:a16="http://schemas.microsoft.com/office/drawing/2014/main" id="{900B31E0-725B-4414-BD86-F34DA10467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85" name="Picture Placeholder 84" descr="Single gear">
            <a:extLst>
              <a:ext uri="{FF2B5EF4-FFF2-40B4-BE49-F238E27FC236}">
                <a16:creationId xmlns:a16="http://schemas.microsoft.com/office/drawing/2014/main" id="{65FBD7DF-30E8-9042-8A0D-0F64C33E0B41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8F2DCC-A50E-40A1-81F9-70371D4AA42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 smtClean="0"/>
              <a:t>ASSUMPTIONS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639B0-7991-4B2B-9E50-32064EB9125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• Dataset contains accurate and complete sales records</a:t>
            </a:r>
            <a:br>
              <a:rPr lang="en-US" sz="1400" dirty="0"/>
            </a:br>
            <a:r>
              <a:rPr lang="en-US" sz="1400" dirty="0"/>
              <a:t>• Sales and Profit columns represent actual business performance</a:t>
            </a:r>
            <a:br>
              <a:rPr lang="en-US" sz="1400" dirty="0"/>
            </a:br>
            <a:r>
              <a:rPr lang="en-US" sz="1400" dirty="0"/>
              <a:t>• No major missing or incorrect values affecting analysis</a:t>
            </a:r>
            <a:br>
              <a:rPr lang="en-US" sz="1400" dirty="0"/>
            </a:br>
            <a:r>
              <a:rPr lang="en-US" sz="1400" dirty="0"/>
              <a:t>• Dataset represents overall retail business performance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39" y="6003235"/>
            <a:ext cx="2447878" cy="8547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394831" y="6360278"/>
            <a:ext cx="87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>
                <a:solidFill>
                  <a:schemeClr val="bg1"/>
                </a:solidFill>
              </a:rPr>
              <a:t>6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79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C2D9-0850-4620-BE32-11F44A92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pic>
        <p:nvPicPr>
          <p:cNvPr id="29" name="Picture Placeholder 28" descr="Pencil">
            <a:extLst>
              <a:ext uri="{FF2B5EF4-FFF2-40B4-BE49-F238E27FC236}">
                <a16:creationId xmlns:a16="http://schemas.microsoft.com/office/drawing/2014/main" id="{F0E35123-11A3-CD40-A44F-8A81B910563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5163-D5FD-4849-978B-77883FAF7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15" y="2720407"/>
            <a:ext cx="4817453" cy="3605748"/>
          </a:xfrm>
        </p:spPr>
        <p:txBody>
          <a:bodyPr/>
          <a:lstStyle/>
          <a:p>
            <a:r>
              <a:rPr lang="en-US" dirty="0"/>
              <a:t>• Technology category drives highest revenue</a:t>
            </a:r>
          </a:p>
          <a:p>
            <a:r>
              <a:rPr lang="en-US" dirty="0"/>
              <a:t>• Some products need improvement due to low profit</a:t>
            </a:r>
          </a:p>
          <a:p>
            <a:r>
              <a:rPr lang="en-US" dirty="0"/>
              <a:t>• Regional analysis helps focus on strong and weak areas</a:t>
            </a:r>
          </a:p>
          <a:p>
            <a:r>
              <a:rPr lang="en-US" dirty="0"/>
              <a:t>• Dashboard helps business make data-driven decisions</a:t>
            </a:r>
          </a:p>
        </p:txBody>
      </p:sp>
      <p:pic>
        <p:nvPicPr>
          <p:cNvPr id="31" name="Picture Placeholder 30" descr="Laptop">
            <a:extLst>
              <a:ext uri="{FF2B5EF4-FFF2-40B4-BE49-F238E27FC236}">
                <a16:creationId xmlns:a16="http://schemas.microsoft.com/office/drawing/2014/main" id="{6BF407E9-98AE-2B40-90E3-1B14FC14FDB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09" y="5153890"/>
            <a:ext cx="3124471" cy="170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ityscape">
            <a:extLst>
              <a:ext uri="{FF2B5EF4-FFF2-40B4-BE49-F238E27FC236}">
                <a16:creationId xmlns:a16="http://schemas.microsoft.com/office/drawing/2014/main" id="{3A7EDB62-3E60-F44C-AE34-9495623E00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B0EC6D-03DD-4CEE-9979-34A964DC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0F9F51E-A3D5-4726-BACE-D5CDD8A464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YASHMANHASofficial@Gmail.com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24465" y="654781"/>
            <a:ext cx="6167535" cy="2369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80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76243_Blue spheres presentation_RVA_v5" id="{E4C0B511-76E7-4C07-AFEA-8FEA0A5A8C84}" vid="{3A463146-28EF-4F73-B63C-03710F66E2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31071E6-22AE-499A-B09C-BF21CF5F74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0</TotalTime>
  <Words>170</Words>
  <Application>Microsoft Office PowerPoint</Application>
  <PresentationFormat>Widescreen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Corbel</vt:lpstr>
      <vt:lpstr>Office Theme</vt:lpstr>
      <vt:lpstr>Retail Sales Performance &amp; Profitability Dashboard</vt:lpstr>
      <vt:lpstr>Project Objective</vt:lpstr>
      <vt:lpstr>PowerPoint Presentation</vt:lpstr>
      <vt:lpstr>DASHBOARD OVERVIEW 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2026-02-27T14:23:58Z</dcterms:created>
  <dcterms:modified xsi:type="dcterms:W3CDTF">2026-03-11T14:33:57Z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